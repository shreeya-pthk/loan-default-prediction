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Loan Default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D4-4BE4-8820-742EC4B3BCBC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D4-4BE4-8820-742EC4B3BCB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D4-4BE4-8820-742EC4B3BCB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D4-4BE4-8820-742EC4B3BC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Non-Defaulted (90.78%)</c:v>
                </c:pt>
                <c:pt idx="1">
                  <c:v>Defaulted (9.22%)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72621</c:v>
                </c:pt>
                <c:pt idx="1">
                  <c:v>7379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D4-4BE4-8820-742EC4B3B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93B"/>
                </a:solidFill>
                <a:latin typeface="Arial"/>
              </a:rPr>
              <a:t>Missing Values by Severity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EB-4A78-AF61-B9BDEFA5B0D6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EB-4A78-AF61-B9BDEFA5B0D6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EB-4A78-AF61-B9BDEFA5B0D6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EB-4A78-AF61-B9BDEFA5B0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Missing
(0%)</c:v>
                </c:pt>
                <c:pt idx="1">
                  <c:v>Low
(0–10%)</c:v>
                </c:pt>
                <c:pt idx="2">
                  <c:v>Medium
(10–50%)</c:v>
                </c:pt>
                <c:pt idx="3">
                  <c:v>High
(&gt;50%)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242</c:v>
                </c:pt>
                <c:pt idx="1">
                  <c:v>496</c:v>
                </c:pt>
                <c:pt idx="2">
                  <c:v>25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EB-4A78-AF61-B9BDEFA5B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ROC Curve — Random Forest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(AUC=0.6212)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0.08</c:v>
                </c:pt>
                <c:pt idx="2">
                  <c:v>0.17</c:v>
                </c:pt>
                <c:pt idx="3">
                  <c:v>0.27</c:v>
                </c:pt>
                <c:pt idx="4">
                  <c:v>0.37</c:v>
                </c:pt>
                <c:pt idx="5">
                  <c:v>0.47</c:v>
                </c:pt>
                <c:pt idx="6">
                  <c:v>0.55000000000000004</c:v>
                </c:pt>
                <c:pt idx="7">
                  <c:v>0.62</c:v>
                </c:pt>
                <c:pt idx="8">
                  <c:v>0.68</c:v>
                </c:pt>
                <c:pt idx="9">
                  <c:v>0.73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D9-4815-8CC1-0D0FE0BF29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ln w="3175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D9-4815-8CC1-0D0FE0BF2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Training Progress — Validation MAE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MAE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125</c:v>
                </c:pt>
                <c:pt idx="5">
                  <c:v>150</c:v>
                </c:pt>
                <c:pt idx="6">
                  <c:v>175</c:v>
                </c:pt>
                <c:pt idx="7">
                  <c:v>200</c:v>
                </c:pt>
                <c:pt idx="8">
                  <c:v>225</c:v>
                </c:pt>
                <c:pt idx="9">
                  <c:v>250</c:v>
                </c:pt>
                <c:pt idx="10">
                  <c:v>275</c:v>
                </c:pt>
                <c:pt idx="11">
                  <c:v>300</c:v>
                </c:pt>
                <c:pt idx="12">
                  <c:v>325</c:v>
                </c:pt>
                <c:pt idx="13">
                  <c:v>350</c:v>
                </c:pt>
                <c:pt idx="14">
                  <c:v>375</c:v>
                </c:pt>
                <c:pt idx="15">
                  <c:v>400</c:v>
                </c:pt>
                <c:pt idx="16">
                  <c:v>425</c:v>
                </c:pt>
                <c:pt idx="17">
                  <c:v>450</c:v>
                </c:pt>
                <c:pt idx="18">
                  <c:v>475</c:v>
                </c:pt>
                <c:pt idx="19">
                  <c:v>500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6.8</c:v>
                </c:pt>
                <c:pt idx="1">
                  <c:v>6.2</c:v>
                </c:pt>
                <c:pt idx="2">
                  <c:v>5.9</c:v>
                </c:pt>
                <c:pt idx="3">
                  <c:v>5.7</c:v>
                </c:pt>
                <c:pt idx="4">
                  <c:v>5.6</c:v>
                </c:pt>
                <c:pt idx="5">
                  <c:v>5.55</c:v>
                </c:pt>
                <c:pt idx="6">
                  <c:v>5.5</c:v>
                </c:pt>
                <c:pt idx="7">
                  <c:v>5.45</c:v>
                </c:pt>
                <c:pt idx="8">
                  <c:v>5.42</c:v>
                </c:pt>
                <c:pt idx="9">
                  <c:v>5.4</c:v>
                </c:pt>
                <c:pt idx="10">
                  <c:v>5.38</c:v>
                </c:pt>
                <c:pt idx="11">
                  <c:v>5.35</c:v>
                </c:pt>
                <c:pt idx="12">
                  <c:v>5.33</c:v>
                </c:pt>
                <c:pt idx="13">
                  <c:v>5.32</c:v>
                </c:pt>
                <c:pt idx="14">
                  <c:v>5.3</c:v>
                </c:pt>
                <c:pt idx="15">
                  <c:v>5.28</c:v>
                </c:pt>
                <c:pt idx="16">
                  <c:v>5.26</c:v>
                </c:pt>
                <c:pt idx="17">
                  <c:v>5.24</c:v>
                </c:pt>
                <c:pt idx="18">
                  <c:v>5.23</c:v>
                </c:pt>
                <c:pt idx="19">
                  <c:v>5.226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DF2-4EF9-B8A0-745FBF901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96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-73152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r>
              <a:rPr lang="en-US" sz="1300" dirty="0"/>
              <a:t>  </a:t>
            </a:r>
            <a:r>
              <a:rPr lang="en-US" sz="1300" b="1" kern="0" spc="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69080" y="411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 to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Credit Risk &amp;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 Financial Exposure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160520" y="306324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6052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60520" y="3520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Shreeya Pathak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60520" y="3767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Feature Selection · Report Writing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60520" y="3995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Anu Vunnam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60520" y="42428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· XGBoost Tuning · Predictions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60520" y="4471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 Kyung Seo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052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Random Forest Modeling ·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from raw data to final predictions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71323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444752"/>
            <a:ext cx="420624" cy="420624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4081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54864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" y="232257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05409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" y="320040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638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Selection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931920"/>
            <a:ext cx="54864" cy="71323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" y="4078224"/>
            <a:ext cx="420624" cy="420624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041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984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298448"/>
            <a:ext cx="54864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19472" y="144475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14081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17627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17627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232257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2860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Results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054096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9472" y="320040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31638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&amp; Conclusions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lose millions annually to loan defaults. Identifying which loans will default — and how much will be lost — is mission-critical for lenders to manage exposure.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690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ML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→  Classify: Will the loan default? (Yes / No)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1810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→  Regress: If yes, how much loss?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514600"/>
            <a:ext cx="2011680" cy="5486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114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87752" y="25146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87752" y="251460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87752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587752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Loan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64024" y="25146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64024" y="251460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4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9.22%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64024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0296" y="251460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0296" y="251460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0296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25,471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40296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133088"/>
            <a:ext cx="832104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Metric: Mean Absolute Error (MAE) — measures the average magnitude of error in predicted loss amounts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68680"/>
          <a:ext cx="4251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868680"/>
          <a:ext cx="4069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51960"/>
            <a:ext cx="42519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61688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2793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only 9.22% defaulted — class weighting required for model training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4754880" y="4251960"/>
            <a:ext cx="425196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361688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3520" y="42793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features exceed 50% missing — all gaps manageable with median imputation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763 raw features down to 180 meaningful predictors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" y="1225326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1920240" cy="56692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34440"/>
            <a:ext cx="411480" cy="41148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loan records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raw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58568" y="2496312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1225326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14600" y="1170432"/>
            <a:ext cx="1920240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24328" y="1234440"/>
            <a:ext cx="411480" cy="41148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2432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87752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Near-Zero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14600" y="2450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251460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40156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features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variance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53128" y="2496312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1225326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170432"/>
            <a:ext cx="192024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18888" y="1234440"/>
            <a:ext cx="411480" cy="41148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2312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Correlation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9160" y="2450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470916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40156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filled;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vars removed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47688" y="2496312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12864" y="1234440"/>
            <a:ext cx="1920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1170432"/>
            <a:ext cx="1920240" cy="5669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13448" y="1234440"/>
            <a:ext cx="411480" cy="41148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1344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76872" y="18288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Feature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03720" y="2450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690372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401568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LASSO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key predictors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0520"/>
            <a:ext cx="457200" cy="4572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078992" y="40965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 compressed 763 → 180 (76% reduction) — retaining only the highest-signal predictors for default classification and loss regression.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 — Random Forest Classifier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474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41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60520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93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2893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(Classification)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1605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733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(ntree)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decision trees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4160520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per split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057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(≈ 180)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41605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4414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441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98064"/>
            <a:ext cx="4160520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8254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28254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→ 5×,  Non-Default → 1×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41605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095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2095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  (Youden's method)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160520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5935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Error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593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9.26%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709160" y="914400"/>
          <a:ext cx="4069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4709160" y="3950208"/>
            <a:ext cx="1261872" cy="886968"/>
          </a:xfrm>
          <a:prstGeom prst="rect">
            <a:avLst/>
          </a:prstGeom>
          <a:solidFill>
            <a:srgbClr val="2563EB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09160" y="398678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0.6212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709160" y="4480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99048" y="3950208"/>
            <a:ext cx="1261872" cy="8869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99048" y="398678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60.95%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099048" y="4480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488936" y="3950208"/>
            <a:ext cx="1261872" cy="886968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488936" y="398678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0.2059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488936" y="4480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 — XGBoost Regressor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41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60520" cy="3474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4884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reg:squarederror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4160520" cy="3474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993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(conservative precision)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3408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(tree complexity control)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4160520" cy="3474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688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2688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(row sampling per tree)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99232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035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 by Tree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48840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(feature sampling)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346704"/>
            <a:ext cx="4160520" cy="3474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/ Early Stop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48840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rounds, stop at 30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94176"/>
            <a:ext cx="4160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4884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 only (7,379)</a:t>
            </a:r>
            <a:endParaRPr lang="en-US" sz="9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709160" y="914400"/>
          <a:ext cx="4069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4709160" y="3401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09160" y="3794760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f766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349240" y="3840480"/>
            <a:ext cx="32461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349240" y="3840480"/>
            <a:ext cx="3246120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641080" y="379476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09160" y="408736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f67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49240" y="4133088"/>
            <a:ext cx="32461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349240" y="4133088"/>
            <a:ext cx="2337206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641080" y="408736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09160" y="437997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f229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349240" y="4425696"/>
            <a:ext cx="32461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349240" y="4425696"/>
            <a:ext cx="1882750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641080" y="437997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09160" y="467258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349240" y="4718304"/>
            <a:ext cx="3246120" cy="1645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349240" y="4718304"/>
            <a:ext cx="1395832" cy="1645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641080" y="4672584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performance for both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286000" cy="32918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—  Classification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417320" cy="5486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56.65%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682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due to imbalance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01952" y="1572768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01952" y="1572768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01952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60.95%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01952" y="21671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23682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defaults caught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38144" y="1572768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38144" y="1572768"/>
            <a:ext cx="1417320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38144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38144" y="21671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8144" y="236829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 imbalance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14173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0.2059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44728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P &amp; 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901952" y="265176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01952" y="2651760"/>
            <a:ext cx="14173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01952" y="2743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901952" y="3246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01952" y="344728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discrimination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92040" y="1143000"/>
            <a:ext cx="228600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11704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(Threshold = 0.068)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36192"/>
          <a:ext cx="3931920" cy="137160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 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 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8,165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6,359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F1D1D"/>
                          </a:solidFill>
                        </a:rPr>
                        <a:t>576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65F46"/>
                          </a:solidFill>
                        </a:rPr>
                        <a:t>899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892040" y="3017520"/>
            <a:ext cx="2286000" cy="3291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029200" y="3044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—  Regression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92040" y="3456432"/>
            <a:ext cx="1828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892040" y="3456432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92040" y="35478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5.2261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48920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892040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85432" y="3456432"/>
            <a:ext cx="1828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885432" y="3456432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885432" y="35478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10.4407</a:t>
            </a:r>
            <a:endParaRPr lang="en-US" sz="2600" dirty="0"/>
          </a:p>
        </p:txBody>
      </p:sp>
      <p:sp>
        <p:nvSpPr>
          <p:cNvPr id="45" name="Text 42"/>
          <p:cNvSpPr/>
          <p:nvPr/>
        </p:nvSpPr>
        <p:spPr>
          <a:xfrm>
            <a:off x="6885432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885432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 Error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Predictions on Test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600200"/>
          </a:xfrm>
          <a:prstGeom prst="rect">
            <a:avLst/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1556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0040" y="2350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25,471 loans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40280" y="1828800"/>
            <a:ext cx="2926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32888" y="1005840"/>
            <a:ext cx="1920240" cy="1600200"/>
          </a:xfrm>
          <a:prstGeom prst="rect">
            <a:avLst/>
          </a:prstGeom>
          <a:solidFill>
            <a:srgbClr val="2563EB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1155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2888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532888" y="2350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Default?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453128" y="1828800"/>
            <a:ext cx="2926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45736" y="1005840"/>
            <a:ext cx="1920240" cy="16002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11556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45736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745736" y="2350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Loss $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665976" y="1828800"/>
            <a:ext cx="2926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958584" y="1005840"/>
            <a:ext cx="1920240" cy="160020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1115568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58584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958584" y="2350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CSV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Prediction Summary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320040" y="32461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20040" y="3246120"/>
            <a:ext cx="9144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21208" y="32826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25,471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521208" y="3758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 Scored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64408" y="32461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64408" y="3246120"/>
            <a:ext cx="91440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3465576" y="32826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11,421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3465576" y="3758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08776" y="32461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208776" y="3246120"/>
            <a:ext cx="91440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409944" y="32826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14,050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6409944" y="37581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Non-Defaults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0040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320040" y="4160520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21208" y="41970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44.9%</a:t>
            </a:r>
            <a:endParaRPr lang="en-US" sz="2600" dirty="0"/>
          </a:p>
        </p:txBody>
      </p:sp>
      <p:sp>
        <p:nvSpPr>
          <p:cNvPr id="39" name="Text 33"/>
          <p:cNvSpPr/>
          <p:nvPr/>
        </p:nvSpPr>
        <p:spPr>
          <a:xfrm>
            <a:off x="521208" y="4672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Rate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3264408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3264408" y="4160520"/>
            <a:ext cx="9144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3465576" y="41970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3.69</a:t>
            </a:r>
            <a:endParaRPr lang="en-US" sz="2600" dirty="0"/>
          </a:p>
        </p:txBody>
      </p:sp>
      <p:sp>
        <p:nvSpPr>
          <p:cNvPr id="43" name="Text 37"/>
          <p:cNvSpPr/>
          <p:nvPr/>
        </p:nvSpPr>
        <p:spPr>
          <a:xfrm>
            <a:off x="3465576" y="4672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Loss Amount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208776" y="416052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6208776" y="4160520"/>
            <a:ext cx="9144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6409944" y="41970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54.19</a:t>
            </a:r>
            <a:endParaRPr lang="en-US" sz="2600" dirty="0"/>
          </a:p>
        </p:txBody>
      </p:sp>
      <p:sp>
        <p:nvSpPr>
          <p:cNvPr id="47" name="Text 41"/>
          <p:cNvSpPr/>
          <p:nvPr/>
        </p:nvSpPr>
        <p:spPr>
          <a:xfrm>
            <a:off x="6409944" y="4672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Loss Predicted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18745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889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8056" y="1060704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0241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Challenge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8056" y="15544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9.22% default rate required class weighting (5×) and Youden threshold (0.068) to raise recall from ~0% to 60.95%.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914400"/>
            <a:ext cx="2788920" cy="187452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64408" y="9144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92424" y="106070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10642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0241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Feature Reduction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92424" y="15544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 → 180 features via NZV removal, correlation filtering, and LASSO — preserving signal while cutting noise by 76%.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08776" y="914400"/>
            <a:ext cx="2788920" cy="18745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08776" y="914400"/>
            <a:ext cx="27889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36792" y="106070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10642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0568" y="10241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Architecture Works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36792" y="15544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classification and regression let each model specialize: RF for default detection; XGBoost for loss quantification.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2926080"/>
            <a:ext cx="2788920" cy="187452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20040" y="292608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48056" y="307238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11810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" y="30358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Improved via Tuning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48056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improved from 5.45 → 5.23 with lr=0.03 and depth=4, achieved through early stopping to prevent overfitting.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64408" y="2926080"/>
            <a:ext cx="2788920" cy="18745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64408" y="2926080"/>
            <a:ext cx="2788920" cy="5486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392424" y="3072384"/>
            <a:ext cx="402336" cy="402336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118104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86200" y="30358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Predictor: Feature f766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92424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f766 dominates XGBoost importance followed by f67 and f229 — opaque features suggesting latent loan quality signals.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208776" y="2926080"/>
            <a:ext cx="2788920" cy="187452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208776" y="2926080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336792" y="3072384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18104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30568" y="30358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336792" y="356616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stacking, deep learning (LSTM), SMOTE oversampling for rare cases, and explainability tools (SHAP) could meaningfully boost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DBEAFE">
              <a:alpha val="60000"/>
            </a:srgbClr>
          </a:solidFill>
          <a:ln w="12700">
            <a:solidFill>
              <a:srgbClr val="DBEAF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-548640"/>
            <a:ext cx="2011680" cy="2011680"/>
          </a:xfrm>
          <a:prstGeom prst="ellipse">
            <a:avLst/>
          </a:prstGeom>
          <a:solidFill>
            <a:srgbClr val="E2E8F0">
              <a:alpha val="60000"/>
            </a:srgbClr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3401568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GROUP 5  · 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960120"/>
            <a:ext cx="48006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23360" y="960120"/>
            <a:ext cx="54864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1005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Shreeya Pathak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Feature Selection · Report Writing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764792"/>
            <a:ext cx="48006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3360" y="1764792"/>
            <a:ext cx="54864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Anu Vunnam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· XGBoost Tuning · Predictions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2569464"/>
            <a:ext cx="48006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0" y="2569464"/>
            <a:ext cx="54864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2615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 Kyung Seo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Random Forest Modeling · Presentation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0" y="34930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at a Glance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3886200"/>
            <a:ext cx="1143000" cy="914400"/>
          </a:xfrm>
          <a:prstGeom prst="rect">
            <a:avLst/>
          </a:prstGeom>
          <a:solidFill>
            <a:srgbClr val="2563EB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23360" y="39319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23360" y="4407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57800" y="3886200"/>
            <a:ext cx="114300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39319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60.95%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4407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1143000" cy="91440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39319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92240" y="4407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MAE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26680" y="3886200"/>
            <a:ext cx="1143000" cy="914400"/>
          </a:xfrm>
          <a:prstGeom prst="rect">
            <a:avLst/>
          </a:prstGeom>
          <a:solidFill>
            <a:srgbClr val="1A3A5C"/>
          </a:solidFill>
          <a:ln/>
          <a:effectLst>
            <a:outerShdw blurRad="76200" dist="25400" dir="81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6680" y="393192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11,421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26680" y="44074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Flagged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837</Words>
  <Application>Microsoft Office PowerPoint</Application>
  <PresentationFormat>On-screen Show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&amp; Loss Prediction</dc:title>
  <dc:subject>PptxGenJS Presentation</dc:subject>
  <dc:creator>ADM Group 5</dc:creator>
  <cp:lastModifiedBy>Inn Kyung Seo</cp:lastModifiedBy>
  <cp:revision>2</cp:revision>
  <dcterms:created xsi:type="dcterms:W3CDTF">2026-05-02T23:18:48Z</dcterms:created>
  <dcterms:modified xsi:type="dcterms:W3CDTF">2026-05-03T01:37:26Z</dcterms:modified>
</cp:coreProperties>
</file>